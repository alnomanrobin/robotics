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nva Sans Bold" panose="020B0604020202020204" charset="0"/>
      <p:regular r:id="rId26"/>
    </p:embeddedFont>
    <p:embeddedFont>
      <p:font typeface="Clear Sans" panose="020B0604020202020204" charset="0"/>
      <p:regular r:id="rId27"/>
    </p:embeddedFont>
    <p:embeddedFont>
      <p:font typeface="Clear Sans Bold" panose="020B0604020202020204" charset="0"/>
      <p:regular r:id="rId28"/>
    </p:embeddedFont>
    <p:embeddedFont>
      <p:font typeface="Clear Sans Medium" panose="020B0604020202020204" charset="0"/>
      <p:regular r:id="rId29"/>
    </p:embeddedFont>
    <p:embeddedFont>
      <p:font typeface="Tenor San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904392"/>
            <a:ext cx="9763125" cy="407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00"/>
              </a:lnSpc>
            </a:pPr>
            <a:r>
              <a:rPr lang="en-US" sz="10500" spc="-210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Build Your First Autonomous Robot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7667420"/>
            <a:ext cx="9763125" cy="200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PRESENTED BY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MD. RASEL ISLAM</a:t>
            </a:r>
          </a:p>
          <a:p>
            <a:pPr marL="0" lvl="0" indent="0"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Convenor,</a:t>
            </a:r>
          </a:p>
          <a:p>
            <a:pPr marL="0" lvl="0" indent="0"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DIU Robotics Club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4010025" cy="2686050"/>
            <a:chOff x="0" y="0"/>
            <a:chExt cx="1029283" cy="689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9283" cy="689449"/>
            </a:xfrm>
            <a:custGeom>
              <a:avLst/>
              <a:gdLst/>
              <a:ahLst/>
              <a:cxnLst/>
              <a:rect l="l" t="t" r="r" b="b"/>
              <a:pathLst>
                <a:path w="1029283" h="689449">
                  <a:moveTo>
                    <a:pt x="0" y="0"/>
                  </a:moveTo>
                  <a:lnTo>
                    <a:pt x="1029283" y="0"/>
                  </a:lnTo>
                  <a:lnTo>
                    <a:pt x="1029283" y="689449"/>
                  </a:lnTo>
                  <a:lnTo>
                    <a:pt x="0" y="689449"/>
                  </a:ln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611225" y="5143500"/>
            <a:ext cx="4010025" cy="2685025"/>
            <a:chOff x="0" y="0"/>
            <a:chExt cx="1029283" cy="6891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9283" cy="689186"/>
            </a:xfrm>
            <a:custGeom>
              <a:avLst/>
              <a:gdLst/>
              <a:ahLst/>
              <a:cxnLst/>
              <a:rect l="l" t="t" r="r" b="b"/>
              <a:pathLst>
                <a:path w="1029283" h="689186">
                  <a:moveTo>
                    <a:pt x="0" y="0"/>
                  </a:moveTo>
                  <a:lnTo>
                    <a:pt x="1029283" y="0"/>
                  </a:lnTo>
                  <a:lnTo>
                    <a:pt x="1029283" y="689186"/>
                  </a:lnTo>
                  <a:lnTo>
                    <a:pt x="0" y="689186"/>
                  </a:lnTo>
                  <a:close/>
                </a:path>
              </a:pathLst>
            </a:custGeom>
            <a:blipFill>
              <a:blip r:embed="rId3"/>
              <a:stretch>
                <a:fillRect l="-155" r="-15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3611225" y="666750"/>
            <a:ext cx="4010025" cy="2686050"/>
            <a:chOff x="0" y="0"/>
            <a:chExt cx="1029283" cy="6894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9283" cy="689449"/>
            </a:xfrm>
            <a:custGeom>
              <a:avLst/>
              <a:gdLst/>
              <a:ahLst/>
              <a:cxnLst/>
              <a:rect l="l" t="t" r="r" b="b"/>
              <a:pathLst>
                <a:path w="1029283" h="689449">
                  <a:moveTo>
                    <a:pt x="0" y="0"/>
                  </a:moveTo>
                  <a:lnTo>
                    <a:pt x="1029283" y="0"/>
                  </a:lnTo>
                  <a:lnTo>
                    <a:pt x="1029283" y="689449"/>
                  </a:lnTo>
                  <a:lnTo>
                    <a:pt x="0" y="689449"/>
                  </a:lnTo>
                  <a:close/>
                </a:path>
              </a:pathLst>
            </a:custGeom>
            <a:blipFill>
              <a:blip r:embed="rId4"/>
              <a:stretch>
                <a:fillRect l="-174" r="-17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296400" y="5142071"/>
            <a:ext cx="4010025" cy="2686454"/>
            <a:chOff x="0" y="0"/>
            <a:chExt cx="1029283" cy="689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9283" cy="689552"/>
            </a:xfrm>
            <a:custGeom>
              <a:avLst/>
              <a:gdLst/>
              <a:ahLst/>
              <a:cxnLst/>
              <a:rect l="l" t="t" r="r" b="b"/>
              <a:pathLst>
                <a:path w="1029283" h="689552">
                  <a:moveTo>
                    <a:pt x="0" y="0"/>
                  </a:moveTo>
                  <a:lnTo>
                    <a:pt x="1029283" y="0"/>
                  </a:lnTo>
                  <a:lnTo>
                    <a:pt x="1029283" y="689552"/>
                  </a:lnTo>
                  <a:lnTo>
                    <a:pt x="0" y="689552"/>
                  </a:lnTo>
                  <a:close/>
                </a:path>
              </a:pathLst>
            </a:custGeom>
            <a:blipFill>
              <a:blip r:embed="rId5"/>
              <a:stretch>
                <a:fillRect l="-182" r="-18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296400" y="3678079"/>
            <a:ext cx="4010025" cy="1140142"/>
            <a:chOff x="0" y="0"/>
            <a:chExt cx="5346700" cy="152019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53467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INDUSTRIAL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02" y="553085"/>
              <a:ext cx="5329998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Used for automated manufacturing processes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11225" y="3678079"/>
            <a:ext cx="4010025" cy="1140142"/>
            <a:chOff x="0" y="0"/>
            <a:chExt cx="5346700" cy="152019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47625"/>
              <a:ext cx="53467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SERVICE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02" y="553085"/>
              <a:ext cx="5329998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Assists in customer service environments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96400" y="8264426"/>
            <a:ext cx="4010025" cy="1140142"/>
            <a:chOff x="0" y="0"/>
            <a:chExt cx="5346700" cy="152019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47625"/>
              <a:ext cx="53467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MOBILE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702" y="553085"/>
              <a:ext cx="5329998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Navigates and interacts with environments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11225" y="8264426"/>
            <a:ext cx="4010025" cy="1140142"/>
            <a:chOff x="0" y="0"/>
            <a:chExt cx="5346700" cy="152019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47625"/>
              <a:ext cx="53467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HUMANOID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702" y="553085"/>
              <a:ext cx="5329998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Mimics human appearance and behavior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8089" y="657225"/>
            <a:ext cx="6885236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000" spc="-140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Types of Robots in Robotics</a:t>
            </a:r>
          </a:p>
        </p:txBody>
      </p:sp>
      <p:sp>
        <p:nvSpPr>
          <p:cNvPr id="23" name="Freeform 23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886173"/>
            <a:ext cx="256938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EARLY AUTOMATONS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64214" y="3524223"/>
            <a:ext cx="256938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FIRST INDUSTRIAL ROBOT</a:t>
            </a:r>
          </a:p>
        </p:txBody>
      </p:sp>
      <p:sp>
        <p:nvSpPr>
          <p:cNvPr id="4" name="Freeform 4"/>
          <p:cNvSpPr/>
          <p:nvPr/>
        </p:nvSpPr>
        <p:spPr>
          <a:xfrm rot="-6723923">
            <a:off x="13666568" y="-2297777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5049500" y="3886173"/>
            <a:ext cx="25717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AUTONOMOUS VEHICLES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118" y="5991225"/>
            <a:ext cx="256938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Early 20th century mechanical devices performed tasks.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64214" y="5991225"/>
            <a:ext cx="256938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1956, Unimate becomes the first industrial robot used.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49500" y="5991225"/>
            <a:ext cx="25717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2010s, development in self-driving cars and drones advances.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750" y="1562100"/>
            <a:ext cx="155162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u="none" strike="noStrike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Robotics History Timeline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750081" y="5143500"/>
            <a:ext cx="17850263" cy="0"/>
          </a:xfrm>
          <a:prstGeom prst="line">
            <a:avLst/>
          </a:prstGeom>
          <a:ln w="19050" cap="flat">
            <a:solidFill>
              <a:srgbClr val="F3F7F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669118" y="5062538"/>
            <a:ext cx="161925" cy="161925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264214" y="5062538"/>
            <a:ext cx="161925" cy="161925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859309" y="5062538"/>
            <a:ext cx="161925" cy="161925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454405" y="5062538"/>
            <a:ext cx="161925" cy="161925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049500" y="5062538"/>
            <a:ext cx="161925" cy="161925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859309" y="3886173"/>
            <a:ext cx="256938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EMERGENCE OF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59309" y="5991225"/>
            <a:ext cx="256938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1950s, AI research begins, enabling intelligent behavior.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4405" y="3886173"/>
            <a:ext cx="256938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PERSONAL ROBOTS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4405" y="5991225"/>
            <a:ext cx="2569382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2000s, robots designed for household tasks emerge widely.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1050" y="1534199"/>
            <a:ext cx="13592175" cy="7774410"/>
            <a:chOff x="0" y="0"/>
            <a:chExt cx="18122900" cy="1036588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81229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Workshop Overview and Learning 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24214"/>
              <a:ext cx="18122900" cy="644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WHAT PARTICIPANTS WILL LEARN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813651"/>
              <a:ext cx="18122900" cy="5552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Participants will explore the fundamentals of </a:t>
              </a:r>
              <a:r>
                <a:rPr lang="en-US" sz="3399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autonomous robotics</a:t>
              </a: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 Topics include:</a:t>
              </a:r>
            </a:p>
            <a:p>
              <a:pPr marL="734055" lvl="1" indent="-367027" algn="l">
                <a:lnSpc>
                  <a:spcPts val="4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Understanding autonomy and its significance</a:t>
              </a:r>
            </a:p>
            <a:p>
              <a:pPr marL="734055" lvl="1" indent="-367027" algn="l">
                <a:lnSpc>
                  <a:spcPts val="4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Overview of autonomous vehicles</a:t>
              </a:r>
            </a:p>
            <a:p>
              <a:pPr marL="734055" lvl="1" indent="-367027" algn="l">
                <a:lnSpc>
                  <a:spcPts val="4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Insights into obstacle avoiding robots</a:t>
              </a:r>
            </a:p>
            <a:p>
              <a:pPr marL="734055" lvl="1" indent="-367027" algn="l">
                <a:lnSpc>
                  <a:spcPts val="4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Required components for building</a:t>
              </a:r>
            </a:p>
            <a:p>
              <a:pPr marL="734055" lvl="1" indent="-367027" algn="l">
                <a:lnSpc>
                  <a:spcPts val="4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Step-by-step building process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1733550"/>
            <a:ext cx="16592550" cy="4591558"/>
            <a:chOff x="0" y="0"/>
            <a:chExt cx="22123400" cy="6122077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22123400" cy="1470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62"/>
                </a:lnSpc>
              </a:pPr>
              <a:r>
                <a:rPr lang="en-US" sz="7301" spc="-146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Workshop Goals: Build Your Robot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08143"/>
              <a:ext cx="22123400" cy="560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4"/>
                </a:lnSpc>
                <a:spcBef>
                  <a:spcPct val="0"/>
                </a:spcBef>
              </a:pPr>
              <a:r>
                <a:rPr lang="en-US" sz="2503" b="1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CREATE AUTONOMOUS SOLUTIONS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434344"/>
              <a:ext cx="22123400" cy="268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3"/>
                </a:lnSpc>
                <a:spcBef>
                  <a:spcPct val="0"/>
                </a:spcBef>
              </a:pPr>
              <a:r>
                <a:rPr lang="en-US" sz="385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Participants will gain hands-on experience, enabling them to construct a </a:t>
              </a:r>
              <a:r>
                <a:rPr lang="en-US" sz="3859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functional autonomous obstacle avoiding robot</a:t>
              </a:r>
              <a:r>
                <a:rPr lang="en-US" sz="385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using essential components and techniques.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10946054" cy="7696200"/>
            <a:chOff x="0" y="0"/>
            <a:chExt cx="14594738" cy="10261600"/>
          </a:xfrm>
        </p:grpSpPr>
        <p:sp>
          <p:nvSpPr>
            <p:cNvPr id="5" name="TextBox 5"/>
            <p:cNvSpPr txBox="1"/>
            <p:nvPr/>
          </p:nvSpPr>
          <p:spPr>
            <a:xfrm>
              <a:off x="0" y="5296800"/>
              <a:ext cx="14594738" cy="592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67"/>
                </a:lnSpc>
                <a:spcBef>
                  <a:spcPct val="0"/>
                </a:spcBef>
              </a:pPr>
              <a:r>
                <a:rPr lang="en-US" sz="2690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CORE CONCEPTS EXPLAINED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25739"/>
              <a:ext cx="14594738" cy="3635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93"/>
                </a:lnSpc>
                <a:spcBef>
                  <a:spcPct val="0"/>
                </a:spcBef>
              </a:pPr>
              <a:r>
                <a:rPr lang="en-US" sz="3924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Autonomy in robotics refers to the </a:t>
              </a:r>
              <a:r>
                <a:rPr lang="en-US" sz="3924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ability to perform tasks</a:t>
              </a:r>
              <a:r>
                <a:rPr lang="en-US" sz="3924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without human intervention, enabling machines to operate independently in various environments.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594738" cy="4745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17"/>
                </a:lnSpc>
              </a:pPr>
              <a:r>
                <a:rPr lang="en-US" sz="7848" spc="-156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Autonomy in Robotics Systems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8324850" cy="5372100"/>
            <a:chOff x="0" y="0"/>
            <a:chExt cx="1515714" cy="978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5714" cy="978104"/>
            </a:xfrm>
            <a:custGeom>
              <a:avLst/>
              <a:gdLst/>
              <a:ahLst/>
              <a:cxnLst/>
              <a:rect l="l" t="t" r="r" b="b"/>
              <a:pathLst>
                <a:path w="1515714" h="978104">
                  <a:moveTo>
                    <a:pt x="0" y="0"/>
                  </a:moveTo>
                  <a:lnTo>
                    <a:pt x="1515714" y="0"/>
                  </a:lnTo>
                  <a:lnTo>
                    <a:pt x="1515714" y="978104"/>
                  </a:lnTo>
                  <a:lnTo>
                    <a:pt x="0" y="978104"/>
                  </a:lnTo>
                  <a:close/>
                </a:path>
              </a:pathLst>
            </a:custGeom>
            <a:blipFill>
              <a:blip r:embed="rId2"/>
              <a:stretch>
                <a:fillRect l="-414" r="-4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296400" y="4248150"/>
            <a:ext cx="8324850" cy="5372100"/>
            <a:chOff x="0" y="0"/>
            <a:chExt cx="1515714" cy="978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5714" cy="978104"/>
            </a:xfrm>
            <a:custGeom>
              <a:avLst/>
              <a:gdLst/>
              <a:ahLst/>
              <a:cxnLst/>
              <a:rect l="l" t="t" r="r" b="b"/>
              <a:pathLst>
                <a:path w="1515714" h="978104">
                  <a:moveTo>
                    <a:pt x="0" y="0"/>
                  </a:moveTo>
                  <a:lnTo>
                    <a:pt x="1515714" y="0"/>
                  </a:lnTo>
                  <a:lnTo>
                    <a:pt x="1515714" y="978104"/>
                  </a:lnTo>
                  <a:lnTo>
                    <a:pt x="0" y="978104"/>
                  </a:lnTo>
                  <a:close/>
                </a:path>
              </a:pathLst>
            </a:custGeom>
            <a:blipFill>
              <a:blip r:embed="rId3"/>
              <a:stretch>
                <a:fillRect l="-414" r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1562100"/>
            <a:ext cx="14077950" cy="211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Examples of Autonomous Systems in Robotics</a:t>
            </a:r>
          </a:p>
        </p:txBody>
      </p:sp>
      <p:sp>
        <p:nvSpPr>
          <p:cNvPr id="7" name="Freeform 7"/>
          <p:cNvSpPr/>
          <p:nvPr/>
        </p:nvSpPr>
        <p:spPr>
          <a:xfrm rot="-6723923">
            <a:off x="13666568" y="-2297777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392103" y="378803"/>
            <a:ext cx="6721934" cy="4478488"/>
          </a:xfrm>
          <a:custGeom>
            <a:avLst/>
            <a:gdLst/>
            <a:ahLst/>
            <a:cxnLst/>
            <a:rect l="l" t="t" r="r" b="b"/>
            <a:pathLst>
              <a:path w="6721934" h="4478488">
                <a:moveTo>
                  <a:pt x="0" y="0"/>
                </a:moveTo>
                <a:lnTo>
                  <a:pt x="6721934" y="0"/>
                </a:lnTo>
                <a:lnTo>
                  <a:pt x="6721934" y="4478489"/>
                </a:lnTo>
                <a:lnTo>
                  <a:pt x="0" y="447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750" y="1562100"/>
            <a:ext cx="83248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Key Technologies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990850" y="4510418"/>
            <a:ext cx="12001500" cy="4747882"/>
            <a:chOff x="0" y="0"/>
            <a:chExt cx="16002000" cy="6330510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160020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ENABLING ROBOTIC AUTONOMY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36633"/>
              <a:ext cx="16002000" cy="5193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Arduino Uno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L293D motor driver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Sonar sensor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Servo motor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DC mootor and wheel, body chasis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Battery and case</a:t>
              </a: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Jumper wire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10236782" cy="7155287"/>
            <a:chOff x="0" y="0"/>
            <a:chExt cx="13649042" cy="9540383"/>
          </a:xfrm>
        </p:grpSpPr>
        <p:sp>
          <p:nvSpPr>
            <p:cNvPr id="5" name="TextBox 5"/>
            <p:cNvSpPr txBox="1"/>
            <p:nvPr/>
          </p:nvSpPr>
          <p:spPr>
            <a:xfrm>
              <a:off x="0" y="4959405"/>
              <a:ext cx="13649042" cy="548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23"/>
                </a:lnSpc>
                <a:spcBef>
                  <a:spcPct val="0"/>
                </a:spcBef>
              </a:pPr>
              <a:r>
                <a:rPr lang="en-US" sz="2516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THE ESSENTIALS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182566"/>
              <a:ext cx="13649042" cy="3357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2"/>
                </a:lnSpc>
                <a:spcBef>
                  <a:spcPct val="0"/>
                </a:spcBef>
              </a:pPr>
              <a:r>
                <a:rPr lang="en-US" sz="3601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Obstacle avoiding robots use sensors and control systems to navigate environments autonomously, preventing collisions and performing various operational tasks efficiently.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649042" cy="4438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7"/>
                </a:lnSpc>
              </a:pPr>
              <a:r>
                <a:rPr lang="en-US" sz="7339" spc="-146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Obstacle Avoiding Robots: Key Concepts and Components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6796" y="0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66112" y="0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6796" y="5143500"/>
            <a:ext cx="7366350" cy="4216430"/>
          </a:xfrm>
          <a:custGeom>
            <a:avLst/>
            <a:gdLst/>
            <a:ahLst/>
            <a:cxnLst/>
            <a:rect l="l" t="t" r="r" b="b"/>
            <a:pathLst>
              <a:path w="7366350" h="4216430">
                <a:moveTo>
                  <a:pt x="0" y="0"/>
                </a:moveTo>
                <a:lnTo>
                  <a:pt x="7366350" y="0"/>
                </a:lnTo>
                <a:lnTo>
                  <a:pt x="7366350" y="4216430"/>
                </a:lnTo>
                <a:lnTo>
                  <a:pt x="0" y="4216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22785" y="0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89076" y="5029317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7" y="0"/>
                </a:lnTo>
                <a:lnTo>
                  <a:pt x="5029317" y="5029316"/>
                </a:lnTo>
                <a:lnTo>
                  <a:pt x="0" y="5029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37443" y="4996593"/>
            <a:ext cx="4568706" cy="5062040"/>
          </a:xfrm>
          <a:custGeom>
            <a:avLst/>
            <a:gdLst/>
            <a:ahLst/>
            <a:cxnLst/>
            <a:rect l="l" t="t" r="r" b="b"/>
            <a:pathLst>
              <a:path w="4568706" h="5062040">
                <a:moveTo>
                  <a:pt x="0" y="0"/>
                </a:moveTo>
                <a:lnTo>
                  <a:pt x="4568706" y="0"/>
                </a:lnTo>
                <a:lnTo>
                  <a:pt x="4568706" y="5062040"/>
                </a:lnTo>
                <a:lnTo>
                  <a:pt x="0" y="5062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How Obstacle Avoidance Works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4093" y="5359433"/>
            <a:ext cx="5540957" cy="3500484"/>
            <a:chOff x="0" y="0"/>
            <a:chExt cx="7387943" cy="4667312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387943" cy="533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17"/>
                </a:lnSpc>
                <a:spcBef>
                  <a:spcPct val="0"/>
                </a:spcBef>
              </a:pPr>
              <a:r>
                <a:rPr lang="en-US" sz="2440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SENSING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56971"/>
              <a:ext cx="7387943" cy="351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49"/>
                </a:lnSpc>
                <a:spcBef>
                  <a:spcPct val="0"/>
                </a:spcBef>
              </a:pPr>
              <a:r>
                <a:rPr lang="en-US" sz="3035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Sensors detect obstacles by emitting signals and measuring their return, providing essential data for the robot's navigation decisions.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3438539"/>
            <a:chOff x="0" y="0"/>
            <a:chExt cx="7264400" cy="4584719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PROCESSING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3438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microcontroller processes the sensor data using algorithms to determine the best course of action for obstacle avoidance.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3438539"/>
            <a:chOff x="0" y="0"/>
            <a:chExt cx="7264400" cy="458471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ACTING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3438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Motors receive commands from the processor, adjusting the robot's movement based on the processed sensor information to navigate effectively.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5" r="-6345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089" y="0"/>
            <a:ext cx="10301077" cy="7452673"/>
          </a:xfrm>
          <a:custGeom>
            <a:avLst/>
            <a:gdLst/>
            <a:ahLst/>
            <a:cxnLst/>
            <a:rect l="l" t="t" r="r" b="b"/>
            <a:pathLst>
              <a:path w="10301077" h="7452673">
                <a:moveTo>
                  <a:pt x="0" y="0"/>
                </a:moveTo>
                <a:lnTo>
                  <a:pt x="10301077" y="0"/>
                </a:lnTo>
                <a:lnTo>
                  <a:pt x="10301077" y="7452673"/>
                </a:lnTo>
                <a:lnTo>
                  <a:pt x="0" y="7452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71036" y="3726337"/>
            <a:ext cx="9716964" cy="6485388"/>
          </a:xfrm>
          <a:custGeom>
            <a:avLst/>
            <a:gdLst/>
            <a:ahLst/>
            <a:cxnLst/>
            <a:rect l="l" t="t" r="r" b="b"/>
            <a:pathLst>
              <a:path w="9716964" h="6485388">
                <a:moveTo>
                  <a:pt x="0" y="0"/>
                </a:moveTo>
                <a:lnTo>
                  <a:pt x="9716964" y="0"/>
                </a:lnTo>
                <a:lnTo>
                  <a:pt x="9716964" y="6485388"/>
                </a:lnTo>
                <a:lnTo>
                  <a:pt x="0" y="648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581400"/>
            <a:chOff x="0" y="0"/>
            <a:chExt cx="1333267" cy="8764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581400"/>
            <a:chOff x="0" y="0"/>
            <a:chExt cx="1333267" cy="876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581400"/>
            <a:chOff x="0" y="0"/>
            <a:chExt cx="1333267" cy="876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267" cy="876413"/>
            </a:xfrm>
            <a:custGeom>
              <a:avLst/>
              <a:gdLst/>
              <a:ahLst/>
              <a:cxnLst/>
              <a:rect l="l" t="t" r="r" b="b"/>
              <a:pathLst>
                <a:path w="1333267" h="876413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8089" y="8366723"/>
            <a:ext cx="5446961" cy="1253517"/>
            <a:chOff x="0" y="0"/>
            <a:chExt cx="7262615" cy="1671356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7262615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SENSORS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04251"/>
              <a:ext cx="7262615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Essential for detecting obstacles and surroundings.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8366723"/>
            <a:ext cx="5448300" cy="1253568"/>
            <a:chOff x="0" y="0"/>
            <a:chExt cx="7264400" cy="167142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MICROCONTROLLER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04319"/>
              <a:ext cx="72644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Acts as the brain, processing inputs and outputs.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8366774"/>
            <a:ext cx="5448300" cy="1253466"/>
            <a:chOff x="0" y="0"/>
            <a:chExt cx="7264400" cy="167128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MOTORS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04183"/>
              <a:ext cx="72644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</a:pPr>
              <a:r>
                <a:rPr lang="en-US" sz="2100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Enable movement through mechanical action and control.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1562100"/>
            <a:ext cx="14077950" cy="211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Required Components for Building Your Robot</a:t>
            </a:r>
          </a:p>
        </p:txBody>
      </p:sp>
      <p:sp>
        <p:nvSpPr>
          <p:cNvPr id="18" name="Freeform 18"/>
          <p:cNvSpPr/>
          <p:nvPr/>
        </p:nvSpPr>
        <p:spPr>
          <a:xfrm rot="-6723923">
            <a:off x="13666568" y="-2297777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1562100"/>
            <a:ext cx="15174368" cy="7606241"/>
            <a:chOff x="0" y="0"/>
            <a:chExt cx="20232490" cy="10141655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20232490" cy="438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055"/>
                </a:lnSpc>
              </a:pPr>
              <a:r>
                <a:rPr lang="en-US" sz="10879" spc="-217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Component Interaction in the Robot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499671"/>
              <a:ext cx="20232490" cy="816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22"/>
                </a:lnSpc>
                <a:spcBef>
                  <a:spcPct val="0"/>
                </a:spcBef>
              </a:pPr>
              <a:r>
                <a:rPr lang="en-US" sz="3730" b="1">
                  <a:solidFill>
                    <a:srgbClr val="F3F7F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HOW COMPONENTS WORK TOGETHER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345586"/>
              <a:ext cx="20232490" cy="2796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89"/>
                </a:lnSpc>
                <a:spcBef>
                  <a:spcPct val="0"/>
                </a:spcBef>
              </a:pPr>
              <a:r>
                <a:rPr lang="en-US" sz="4063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robot's </a:t>
              </a:r>
              <a:r>
                <a:rPr lang="en-US" sz="4063" b="1">
                  <a:solidFill>
                    <a:srgbClr val="F3F7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sensing, processing, and acting</a:t>
              </a:r>
              <a:r>
                <a:rPr lang="en-US" sz="4063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components interact seamlessly to enable effective obstacle avoidance and ensure smooth operation in real-world scenarios.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6446" y="0"/>
            <a:ext cx="14786059" cy="10287000"/>
          </a:xfrm>
          <a:custGeom>
            <a:avLst/>
            <a:gdLst/>
            <a:ahLst/>
            <a:cxnLst/>
            <a:rect l="l" t="t" r="r" b="b"/>
            <a:pathLst>
              <a:path w="14786059" h="10287000">
                <a:moveTo>
                  <a:pt x="0" y="0"/>
                </a:moveTo>
                <a:lnTo>
                  <a:pt x="14786058" y="0"/>
                </a:lnTo>
                <a:lnTo>
                  <a:pt x="147860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18" b="-52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5967" y="728662"/>
            <a:ext cx="511929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316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CIRCUIT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4248123"/>
            <a:ext cx="40076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ASSEMBLE CHASSIS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22218" y="4248123"/>
            <a:ext cx="40076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CONNECT SENSORS</a:t>
            </a:r>
          </a:p>
        </p:txBody>
      </p:sp>
      <p:sp>
        <p:nvSpPr>
          <p:cNvPr id="4" name="Freeform 4"/>
          <p:cNvSpPr/>
          <p:nvPr/>
        </p:nvSpPr>
        <p:spPr>
          <a:xfrm rot="-6723923">
            <a:off x="13666568" y="-2297777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669118" y="5991225"/>
            <a:ext cx="4007657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Construct base and attach the motors securely.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2218" y="5991225"/>
            <a:ext cx="4007657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Wire sensors to the microcontroller correctly.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1562100"/>
            <a:ext cx="155162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u="none" strike="noStrike" spc="-139">
                <a:solidFill>
                  <a:srgbClr val="F3F7F9"/>
                </a:solidFill>
                <a:latin typeface="Tenor Sans"/>
                <a:ea typeface="Tenor Sans"/>
                <a:cs typeface="Tenor Sans"/>
                <a:sym typeface="Tenor Sans"/>
              </a:rPr>
              <a:t>Build Process Timeline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50081" y="5143500"/>
            <a:ext cx="17850263" cy="0"/>
          </a:xfrm>
          <a:prstGeom prst="line">
            <a:avLst/>
          </a:prstGeom>
          <a:ln w="19050" cap="flat">
            <a:solidFill>
              <a:srgbClr val="F3F7F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69118" y="5062538"/>
            <a:ext cx="161925" cy="161925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22218" y="5062538"/>
            <a:ext cx="161925" cy="161925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5318" y="5062538"/>
            <a:ext cx="161925" cy="161925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3F7F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175318" y="4248123"/>
            <a:ext cx="40076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3F7F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UPLOAD CODE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5318" y="5991225"/>
            <a:ext cx="4007657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F3F7F9"/>
                </a:solidFill>
                <a:latin typeface="Clear Sans"/>
                <a:ea typeface="Clear Sans"/>
                <a:cs typeface="Clear Sans"/>
                <a:sym typeface="Clear Sans"/>
              </a:rPr>
              <a:t>Transfer control program to the robot system.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14273290" cy="7696200"/>
            <a:chOff x="0" y="0"/>
            <a:chExt cx="19031053" cy="10261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9031053" cy="3247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76"/>
                </a:lnSpc>
              </a:pPr>
              <a:r>
                <a:rPr lang="en-US" sz="8063" spc="-161">
                  <a:solidFill>
                    <a:srgbClr val="F3F7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Key Learnings and Next Steps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068541"/>
              <a:ext cx="19031053" cy="612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0"/>
                </a:lnSpc>
                <a:spcBef>
                  <a:spcPct val="0"/>
                </a:spcBef>
              </a:pPr>
              <a:r>
                <a:rPr lang="en-US" sz="2764" b="1">
                  <a:solidFill>
                    <a:srgbClr val="547899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EXPLORE MORE ROBOTICS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415190"/>
              <a:ext cx="19031053" cy="4846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95372" lvl="1" indent="-447686" algn="l">
                <a:lnSpc>
                  <a:spcPts val="580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147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Understand the fundamentals of robotics and autonomy</a:t>
              </a:r>
            </a:p>
            <a:p>
              <a:pPr marL="895372" lvl="1" indent="-447686" algn="l">
                <a:lnSpc>
                  <a:spcPts val="580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147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Familiarize with obstacle avoiding robot components</a:t>
              </a:r>
            </a:p>
            <a:p>
              <a:pPr marL="895372" lvl="1" indent="-447686" algn="l">
                <a:lnSpc>
                  <a:spcPts val="580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147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Gain hands-on experience in building a robot</a:t>
              </a:r>
            </a:p>
            <a:p>
              <a:pPr marL="895372" lvl="1" indent="-447686" algn="l">
                <a:lnSpc>
                  <a:spcPts val="580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147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Experiment with robotics projects for deeper learning</a:t>
              </a:r>
            </a:p>
            <a:p>
              <a:pPr marL="895372" lvl="1" indent="-447686" algn="l">
                <a:lnSpc>
                  <a:spcPts val="580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147">
                  <a:solidFill>
                    <a:srgbClr val="F3F7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Stay engaged with robotics communities and resources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179143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26989">
            <a:off x="-13220976" y="-8689528"/>
            <a:ext cx="27274407" cy="25058977"/>
          </a:xfrm>
          <a:custGeom>
            <a:avLst/>
            <a:gdLst/>
            <a:ahLst/>
            <a:cxnLst/>
            <a:rect l="l" t="t" r="r" b="b"/>
            <a:pathLst>
              <a:path w="27274407" h="2505897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111384">
            <a:off x="13680135" y="1098024"/>
            <a:ext cx="12122938" cy="11672351"/>
          </a:xfrm>
          <a:custGeom>
            <a:avLst/>
            <a:gdLst/>
            <a:ahLst/>
            <a:cxnLst/>
            <a:rect l="l" t="t" r="r" b="b"/>
            <a:pathLst>
              <a:path w="12122938" h="11672351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78045" y="4630939"/>
            <a:ext cx="5656061" cy="5656061"/>
          </a:xfrm>
          <a:custGeom>
            <a:avLst/>
            <a:gdLst/>
            <a:ahLst/>
            <a:cxnLst/>
            <a:rect l="l" t="t" r="r" b="b"/>
            <a:pathLst>
              <a:path w="5656061" h="5656061">
                <a:moveTo>
                  <a:pt x="0" y="0"/>
                </a:moveTo>
                <a:lnTo>
                  <a:pt x="5656061" y="0"/>
                </a:lnTo>
                <a:lnTo>
                  <a:pt x="5656061" y="5656061"/>
                </a:lnTo>
                <a:lnTo>
                  <a:pt x="0" y="56560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25511" y="1297440"/>
            <a:ext cx="13360740" cy="254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35"/>
              </a:lnSpc>
            </a:pPr>
            <a:r>
              <a:rPr lang="en-US" sz="14882" b="1">
                <a:solidFill>
                  <a:srgbClr val="F3F7F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51" b="-915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Custom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Clear Sans Medium</vt:lpstr>
      <vt:lpstr>Calibri</vt:lpstr>
      <vt:lpstr>Canva Sans Bold</vt:lpstr>
      <vt:lpstr>Clear Sans Bold</vt:lpstr>
      <vt:lpstr>Arial</vt:lpstr>
      <vt:lpstr>Tenor Sans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Build Your First Autonomous Robot</dc:title>
  <dc:creator>DELL</dc:creator>
  <dc:description>Presentation - Build Your First Autonomous Robot</dc:description>
  <cp:lastModifiedBy>Alnoman Robin</cp:lastModifiedBy>
  <cp:revision>1</cp:revision>
  <dcterms:created xsi:type="dcterms:W3CDTF">2006-08-16T00:00:00Z</dcterms:created>
  <dcterms:modified xsi:type="dcterms:W3CDTF">2025-10-17T20:03:27Z</dcterms:modified>
  <dc:identifier>DAG14ALtxWM</dc:identifier>
</cp:coreProperties>
</file>